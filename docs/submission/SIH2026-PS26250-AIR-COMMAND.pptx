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>AIR COMMAND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500"/>
              </a:spcAft>
              <a:defRPr sz="1900" b="1">
                <a:solidFill>
                  <a:srgbClr val="1A2836"/>
                </a:solidFill>
                <a:latin typeface="Arial"/>
              </a:defRPr>
            </a:pPr>
            <a:r>
              <a:t>Problem Statement ID: SIH26250</a:t>
            </a:r>
            <a:endParaRPr lang="en-US" dirty="0"/>
          </a:p>
          <a:p>
            <a:pPr>
              <a:spcAft>
                <a:spcPts val="1500"/>
              </a:spcAft>
              <a:defRPr sz="1700" b="1">
                <a:solidFill>
                  <a:srgbClr val="1A2836"/>
                </a:solidFill>
                <a:latin typeface="Arial"/>
              </a:defRPr>
            </a:pPr>
            <a:r>
              <a:t>Title: Air Power — Dynamic Air Operations &amp; Resource Optimisation</a:t>
            </a:r>
          </a:p>
          <a:p>
            <a:pPr>
              <a:spcAft>
                <a:spcPts val="1500"/>
              </a:spcAft>
              <a:defRPr sz="1900" b="0">
                <a:solidFill>
                  <a:srgbClr val="1A2836"/>
                </a:solidFill>
                <a:latin typeface="Arial"/>
              </a:defRPr>
            </a:pPr>
            <a:r>
              <a:t>Theme: Transportation &amp; Logistics</a:t>
            </a:r>
          </a:p>
          <a:p>
            <a:pPr>
              <a:spcAft>
                <a:spcPts val="1500"/>
              </a:spcAft>
              <a:defRPr sz="1900" b="0">
                <a:solidFill>
                  <a:srgbClr val="1A2836"/>
                </a:solidFill>
                <a:latin typeface="Arial"/>
              </a:defRPr>
            </a:pPr>
            <a:r>
              <a:t>Category: Software</a:t>
            </a:r>
          </a:p>
          <a:p>
            <a:pPr>
              <a:spcAft>
                <a:spcPts val="1500"/>
              </a:spcAft>
              <a:defRPr sz="1900" b="1">
                <a:solidFill>
                  <a:srgbClr val="1A2836"/>
                </a:solidFill>
                <a:latin typeface="Arial"/>
              </a:defRPr>
            </a:pPr>
            <a:r>
              <a:t>Team: AIR COMMAND</a:t>
            </a:r>
          </a:p>
          <a:p>
            <a:pPr>
              <a:spcAft>
                <a:spcPts val="1500"/>
              </a:spcAft>
              <a:defRPr sz="1900" b="0">
                <a:solidFill>
                  <a:srgbClr val="1A2836"/>
                </a:solidFill>
                <a:latin typeface="Arial"/>
              </a:defRPr>
            </a:pPr>
            <a:r>
              <a:t>Team ID: 139613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AIR</a:t>
            </a:r>
          </a:p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COMMAND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12648" y="1828800"/>
            <a:ext cx="5349240" cy="420624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24D80"/>
                </a:solidFill>
                <a:latin typeface="Arial"/>
              </a:defRPr>
            </a:pPr>
            <a:r>
              <a:t>A decision-support prototype for a structured air operations exercise.</a:t>
            </a:r>
          </a:p>
          <a:p>
            <a:pPr>
              <a:spcAft>
                <a:spcPts val="900"/>
              </a:spcAft>
              <a:defRPr sz="1600" b="0">
                <a:solidFill>
                  <a:srgbClr val="1A2836"/>
                </a:solidFill>
                <a:latin typeface="Arial"/>
              </a:defRPr>
            </a:pPr>
            <a:r>
              <a:t>1  Shared picture: seeded aircraft, missions, threats, airspace, weather and weapons.</a:t>
            </a:r>
          </a:p>
          <a:p>
            <a:pPr>
              <a:spcAft>
                <a:spcPts val="900"/>
              </a:spcAft>
              <a:defRPr sz="1600" b="0">
                <a:solidFill>
                  <a:srgbClr val="1A2836"/>
                </a:solidFill>
                <a:latin typeface="Arial"/>
              </a:defRPr>
            </a:pPr>
            <a:r>
              <a:t>2  Constraint-aware planning: compare three ranked force options with assignments, risk and modeled outcomes.</a:t>
            </a:r>
          </a:p>
          <a:p>
            <a:pPr>
              <a:spcAft>
                <a:spcPts val="900"/>
              </a:spcAft>
              <a:defRPr sz="1600" b="0">
                <a:solidFill>
                  <a:srgbClr val="1A2836"/>
                </a:solidFill>
                <a:latin typeface="Arial"/>
              </a:defRPr>
            </a:pPr>
            <a:r>
              <a:t>3  Human review: inspect the briefing, approve a local simulation, respond to decision gates and review the AAR.</a:t>
            </a:r>
          </a:p>
          <a:p>
            <a:pPr>
              <a:spcAft>
                <a:spcPts val="400"/>
              </a:spcAft>
              <a:defRPr sz="1500" b="1">
                <a:solidFill>
                  <a:srgbClr val="224D80"/>
                </a:solidFill>
                <a:latin typeface="Arial"/>
              </a:defRPr>
            </a:pPr>
            <a:r>
              <a:t>CORE: recommendations include visible constraints and blockers.</a:t>
            </a:r>
          </a:p>
        </p:txBody>
      </p:sp>
      <p:pic>
        <p:nvPicPr>
          <p:cNvPr id="15363" name="Picture 15362" descr="17-console-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84831"/>
            <a:ext cx="4983480" cy="280320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6400800" y="4961191"/>
            <a:ext cx="4983480" cy="32004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56370"/>
                </a:solidFill>
                <a:latin typeface="Arial"/>
              </a:defRPr>
            </a:pPr>
            <a:r>
              <a:t>Prototype console · seeded exercise state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400800" y="5367528"/>
            <a:ext cx="4983480" cy="50292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56370"/>
                </a:solidFill>
                <a:latin typeface="Arial"/>
              </a:defRPr>
            </a:pPr>
            <a:r>
              <a:t>All inputs, feed labels and outcomes are simulated. No live IACCS or sensor connection.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AIR</a:t>
            </a:r>
          </a:p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COMMAND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115568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400">
                <a:solidFill>
                  <a:srgbClr val="546370"/>
                </a:solidFill>
                <a:latin typeface="Arial"/>
              </a:defRPr>
            </a:pPr>
            <a:r>
              <a:t>Browser prototype  |  Local exercise data  |  Human-reviewed recommendations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12648" y="1444752"/>
            <a:ext cx="5303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224D80"/>
                </a:solidFill>
                <a:latin typeface="Arial"/>
              </a:defRPr>
            </a:pPr>
            <a:r>
              <a:t>APPLICATION FLOW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868680" y="1965960"/>
            <a:ext cx="0" cy="3611880"/>
          </a:xfrm>
          <a:prstGeom prst="line">
            <a:avLst/>
          </a:prstGeom>
          <a:ln w="25400">
            <a:solidFill>
              <a:srgbClr val="DA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Oval 17412"/>
          <p:cNvSpPr/>
          <p:nvPr/>
        </p:nvSpPr>
        <p:spPr>
          <a:xfrm>
            <a:off x="676656" y="1773936"/>
            <a:ext cx="384048" cy="384048"/>
          </a:xfrm>
          <a:prstGeom prst="ellipse">
            <a:avLst/>
          </a:prstGeom>
          <a:solidFill>
            <a:srgbClr val="22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225296" y="1764792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24D80"/>
                </a:solidFill>
                <a:latin typeface="Arial"/>
              </a:defRPr>
            </a:pPr>
            <a:r>
              <a:t>EXERCISE INPUTS</a:t>
            </a:r>
          </a:p>
          <a:p>
            <a:pPr>
              <a:spcAft>
                <a:spcPts val="0"/>
              </a:spcAft>
              <a:defRPr sz="1150">
                <a:solidFill>
                  <a:srgbClr val="202B36"/>
                </a:solidFill>
                <a:latin typeface="Arial"/>
              </a:defRPr>
            </a:pPr>
            <a:r>
              <a:t>Seeded aircraft, missions, threats, weapons, airspace and weather.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676656" y="2496312"/>
            <a:ext cx="384048" cy="384048"/>
          </a:xfrm>
          <a:prstGeom prst="ellipse">
            <a:avLst/>
          </a:prstGeom>
          <a:solidFill>
            <a:srgbClr val="22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225296" y="2487168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24D80"/>
                </a:solidFill>
                <a:latin typeface="Arial"/>
              </a:defRPr>
            </a:pPr>
            <a:r>
              <a:t>SCENARIO VIEW</a:t>
            </a:r>
          </a:p>
          <a:p>
            <a:pPr>
              <a:spcAft>
                <a:spcPts val="0"/>
              </a:spcAft>
              <a:defRPr sz="1150">
                <a:solidFill>
                  <a:srgbClr val="202B36"/>
                </a:solidFill>
                <a:latin typeface="Arial"/>
              </a:defRPr>
            </a:pPr>
            <a:r>
              <a:t>Roster, mission queue, map overlays and selected scenario.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676656" y="3218688"/>
            <a:ext cx="384048" cy="384048"/>
          </a:xfrm>
          <a:prstGeom prst="ellipse">
            <a:avLst/>
          </a:prstGeom>
          <a:solidFill>
            <a:srgbClr val="22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225296" y="3209544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24D80"/>
                </a:solidFill>
                <a:latin typeface="Arial"/>
              </a:defRPr>
            </a:pPr>
            <a:r>
              <a:t>CONSTRAINT CHECKS</a:t>
            </a:r>
          </a:p>
          <a:p>
            <a:pPr>
              <a:spcAft>
                <a:spcPts val="0"/>
              </a:spcAft>
              <a:defRPr sz="1150">
                <a:solidFill>
                  <a:srgbClr val="202B36"/>
                </a:solidFill>
                <a:latin typeface="Arial"/>
              </a:defRPr>
            </a:pPr>
            <a:r>
              <a:t>Readiness, fuel, crew rest, weapon fit and range, route, airspace and weather.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676656" y="3941064"/>
            <a:ext cx="384048" cy="384048"/>
          </a:xfrm>
          <a:prstGeom prst="ellipse">
            <a:avLst/>
          </a:prstGeom>
          <a:solidFill>
            <a:srgbClr val="22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225296" y="3931920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24D80"/>
                </a:solidFill>
                <a:latin typeface="Arial"/>
              </a:defRPr>
            </a:pPr>
            <a:r>
              <a:t>COA RANKING</a:t>
            </a:r>
          </a:p>
          <a:p>
            <a:pPr>
              <a:spcAft>
                <a:spcPts val="0"/>
              </a:spcAft>
              <a:defRPr sz="1150">
                <a:solidFill>
                  <a:srgbClr val="202B36"/>
                </a:solidFill>
                <a:latin typeface="Arial"/>
              </a:defRPr>
            </a:pPr>
            <a:r>
              <a:t>Weighted rules compare aggressive, balanced and conservative options.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676656" y="4663440"/>
            <a:ext cx="384048" cy="384048"/>
          </a:xfrm>
          <a:prstGeom prst="ellipse">
            <a:avLst/>
          </a:prstGeom>
          <a:solidFill>
            <a:srgbClr val="22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225296" y="4654296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24D80"/>
                </a:solidFill>
                <a:latin typeface="Arial"/>
              </a:defRPr>
            </a:pPr>
            <a:r>
              <a:t>HUMAN REVIEW</a:t>
            </a:r>
          </a:p>
          <a:p>
            <a:pPr>
              <a:spcAft>
                <a:spcPts val="0"/>
              </a:spcAft>
              <a:defRPr sz="1150">
                <a:solidFill>
                  <a:srgbClr val="202B36"/>
                </a:solidFill>
                <a:latin typeface="Arial"/>
              </a:defRPr>
            </a:pPr>
            <a:r>
              <a:t>Review the briefing; approve or reject local exercise execution.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676656" y="5385816"/>
            <a:ext cx="384048" cy="384048"/>
          </a:xfrm>
          <a:prstGeom prst="ellipse">
            <a:avLst/>
          </a:prstGeom>
          <a:solidFill>
            <a:srgbClr val="224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225296" y="5376672"/>
            <a:ext cx="46177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24D80"/>
                </a:solidFill>
                <a:latin typeface="Arial"/>
              </a:defRPr>
            </a:pPr>
            <a:r>
              <a:t>SIMULATED RUN + AAR</a:t>
            </a:r>
          </a:p>
          <a:p>
            <a:pPr>
              <a:spcAft>
                <a:spcPts val="0"/>
              </a:spcAft>
              <a:defRPr sz="1150">
                <a:solidFill>
                  <a:srgbClr val="202B36"/>
                </a:solidFill>
                <a:latin typeface="Arial"/>
              </a:defRPr>
            </a:pPr>
            <a:r>
              <a:t>Modeled phases, decision prompts, event history and exercise outcome.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36208" y="1444752"/>
            <a:ext cx="5358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224D80"/>
                </a:solidFill>
                <a:latin typeface="Arial"/>
              </a:defRPr>
            </a:pPr>
            <a:r>
              <a:t>PROTOTYPE EVIDENCE</a:t>
            </a:r>
          </a:p>
        </p:txBody>
      </p:sp>
      <p:pic>
        <p:nvPicPr>
          <p:cNvPr id="17426" name="Picture 174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773936"/>
            <a:ext cx="5358384" cy="3014091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6236208" y="4818888"/>
            <a:ext cx="53583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546370"/>
                </a:solidFill>
                <a:latin typeface="Arial"/>
              </a:defRPr>
            </a:pPr>
            <a:r>
              <a:t>Prototype capture | Simulated exercise data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236208" y="5102352"/>
            <a:ext cx="12252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1B7571"/>
                </a:solidFill>
                <a:latin typeface="Arial"/>
              </a:defRPr>
            </a:pPr>
            <a:r>
              <a:t>STACK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498079" y="5093208"/>
            <a:ext cx="40965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202B36"/>
                </a:solidFill>
                <a:latin typeface="Arial"/>
              </a:defRPr>
            </a:pPr>
            <a:r>
              <a:t>Svelte 5 + TypeScript + Vite | MapLibre + Turf | Three.js + Threlte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236208" y="5504688"/>
            <a:ext cx="122529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1B7571"/>
                </a:solidFill>
                <a:latin typeface="Arial"/>
              </a:defRPr>
            </a:pPr>
            <a:r>
              <a:t>SCOPE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498079" y="5495544"/>
            <a:ext cx="40965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02B36"/>
                </a:solidFill>
                <a:latin typeface="Arial"/>
              </a:defRPr>
            </a:pPr>
            <a:r>
              <a:t>Seeded feeds and illustrative outcomes. No live IACCS/sensor links or operational ATO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AIR</a:t>
            </a:r>
          </a:p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COMMAND</a:t>
            </a:r>
          </a:p>
        </p:txBody>
      </p:sp>
      <p:sp>
        <p:nvSpPr>
          <p:cNvPr id="17410" name="TextBox 17409"/>
          <p:cNvSpPr txBox="1"/>
          <p:nvPr/>
        </p:nvSpPr>
        <p:spPr>
          <a:xfrm>
            <a:off x="612648" y="1828800"/>
            <a:ext cx="10789920" cy="420624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224D80"/>
                </a:solidFill>
                <a:latin typeface="Arial"/>
              </a:defRPr>
            </a:pPr>
            <a:r>
              <a:t>Feasible now</a:t>
            </a:r>
          </a:p>
          <a:p>
            <a:pPr>
              <a:spcAft>
                <a:spcPts val="1000"/>
              </a:spcAft>
              <a:defRPr sz="1700" b="0">
                <a:solidFill>
                  <a:srgbClr val="1A2836"/>
                </a:solidFill>
                <a:latin typeface="Arial"/>
              </a:defRPr>
            </a:pPr>
            <a:r>
              <a:t>Runs in a browser with local scenario data. The prototype does not depend on external operational systems.</a:t>
            </a:r>
          </a:p>
          <a:p>
            <a:pPr>
              <a:spcAft>
                <a:spcPts val="1300"/>
              </a:spcAft>
              <a:defRPr sz="1900" b="1">
                <a:solidFill>
                  <a:srgbClr val="224D80"/>
                </a:solidFill>
                <a:latin typeface="Arial"/>
              </a:defRPr>
            </a:pPr>
            <a:r>
              <a:t>Key limits</a:t>
            </a:r>
          </a:p>
          <a:p>
            <a:pPr>
              <a:spcAft>
                <a:spcPts val="1000"/>
              </a:spcAft>
              <a:defRPr sz="1700" b="0">
                <a:solidFill>
                  <a:srgbClr val="1A2836"/>
                </a:solidFill>
                <a:latin typeface="Arial"/>
              </a:defRPr>
            </a:pPr>
            <a:r>
              <a:t>Synthetic inputs; heuristic scoring; unvalidated estimates; no live IACCS, radar, AWACS or base integration.</a:t>
            </a:r>
          </a:p>
          <a:p>
            <a:pPr>
              <a:spcAft>
                <a:spcPts val="1300"/>
              </a:spcAft>
              <a:defRPr sz="1900" b="1">
                <a:solidFill>
                  <a:srgbClr val="224D80"/>
                </a:solidFill>
                <a:latin typeface="Arial"/>
              </a:defRPr>
            </a:pPr>
            <a:r>
              <a:t>Next research and engineering</a:t>
            </a:r>
          </a:p>
          <a:p>
            <a:pPr>
              <a:spcAft>
                <a:spcPts val="1000"/>
              </a:spcAft>
              <a:defRPr sz="1700" b="0">
                <a:solidFill>
                  <a:srgbClr val="1A2836"/>
                </a:solidFill>
                <a:latin typeface="Arial"/>
              </a:defRPr>
            </a:pPr>
            <a:r>
              <a:t>Validate rules with domain reviewers and approved exercise cases. Add data provenance, uncertainty display and audit controls. Consider authenticated adapters only in an authorized test environment.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AIR</a:t>
            </a:r>
          </a:p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COMMAND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965960"/>
            <a:ext cx="10698480" cy="3977639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24D80"/>
                </a:solidFill>
                <a:latin typeface="Arial"/>
              </a:defRPr>
            </a:pPr>
            <a:r>
              <a:t>Current prototype value</a:t>
            </a:r>
          </a:p>
          <a:p>
            <a:pPr>
              <a:spcAft>
                <a:spcPts val="900"/>
              </a:spcAft>
              <a:defRPr sz="1700" b="0">
                <a:solidFill>
                  <a:srgbClr val="1A2836"/>
                </a:solidFill>
                <a:latin typeface="Arial"/>
              </a:defRPr>
            </a:pPr>
            <a:r>
              <a:t>• Puts force status, scenario map and planning options in one exercise console.</a:t>
            </a:r>
          </a:p>
          <a:p>
            <a:pPr>
              <a:spcAft>
                <a:spcPts val="900"/>
              </a:spcAft>
              <a:defRPr sz="1700" b="0">
                <a:solidFill>
                  <a:srgbClr val="1A2836"/>
                </a:solidFill>
                <a:latin typeface="Arial"/>
              </a:defRPr>
            </a:pPr>
            <a:r>
              <a:t>• Makes planning trade-offs and constraint failures visible for human review.</a:t>
            </a:r>
          </a:p>
          <a:p>
            <a:pPr>
              <a:spcAft>
                <a:spcPts val="900"/>
              </a:spcAft>
              <a:defRPr sz="1700" b="0">
                <a:solidFill>
                  <a:srgbClr val="1A2836"/>
                </a:solidFill>
                <a:latin typeface="Arial"/>
              </a:defRPr>
            </a:pPr>
            <a:r>
              <a:t>• Lets trainees rehearse decision gates and review a consistent event trail.</a:t>
            </a:r>
          </a:p>
          <a:p>
            <a:pPr>
              <a:spcAft>
                <a:spcPts val="900"/>
              </a:spcAft>
              <a:defRPr sz="2000" b="1">
                <a:solidFill>
                  <a:srgbClr val="224D80"/>
                </a:solidFill>
                <a:latin typeface="Arial"/>
              </a:defRPr>
            </a:pPr>
            <a:r>
              <a:t>Future value to validate</a:t>
            </a:r>
          </a:p>
          <a:p>
            <a:pPr>
              <a:spcAft>
                <a:spcPts val="900"/>
              </a:spcAft>
              <a:defRPr sz="1700" b="0">
                <a:solidFill>
                  <a:srgbClr val="1A2836"/>
                </a:solidFill>
                <a:latin typeface="Arial"/>
              </a:defRPr>
            </a:pPr>
            <a:r>
              <a:t>With representative data, expert review and authorized integrations, the workflow could support planning exercises, reduce repeated manual comparisons and improve after-action discussion. These benefits have not yet been measured.</a:t>
            </a:r>
          </a:p>
          <a:p>
            <a:pPr>
              <a:spcAft>
                <a:spcPts val="400"/>
              </a:spcAft>
              <a:defRPr sz="1500" b="1">
                <a:solidFill>
                  <a:srgbClr val="556370"/>
                </a:solidFill>
                <a:latin typeface="Arial"/>
              </a:defRPr>
            </a:pPr>
            <a:r>
              <a:t>Prototype boundary: not operational, not connected to live systems, and not validated for real-world tasking.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AIR</a:t>
            </a:r>
          </a:p>
          <a:p>
            <a:pPr algn="l">
              <a:defRPr sz="850" b="1">
                <a:solidFill>
                  <a:srgbClr val="224D80"/>
                </a:solidFill>
                <a:latin typeface="Arial"/>
              </a:defRPr>
            </a:pPr>
            <a:r>
              <a:t>COMMAND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828800"/>
            <a:ext cx="10789920" cy="425196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24D80"/>
                </a:solidFill>
                <a:latin typeface="Arial"/>
              </a:defRPr>
            </a:pPr>
            <a:r>
              <a:t>Problem statement</a:t>
            </a:r>
          </a:p>
          <a:p>
            <a:pPr>
              <a:spcAft>
                <a:spcPts val="400"/>
              </a:spcAft>
              <a:defRPr sz="1400" b="0">
                <a:solidFill>
                  <a:srgbClr val="1A2836"/>
                </a:solidFill>
                <a:latin typeface="Arial"/>
              </a:defRPr>
            </a:pPr>
            <a:r>
              <a:t>SIH 2026 PS 26250 · Air Power — Dynamic Air Operations &amp; Resource Optimisation · https://sih2026-ps-viewer.vercel.app/</a:t>
            </a:r>
          </a:p>
          <a:p>
            <a:pPr>
              <a:spcAft>
                <a:spcPts val="900"/>
              </a:spcAft>
              <a:defRPr sz="1700" b="1">
                <a:solidFill>
                  <a:srgbClr val="224D80"/>
                </a:solidFill>
                <a:latin typeface="Arial"/>
              </a:defRPr>
            </a:pPr>
            <a:r>
              <a:t>Prototype and source</a:t>
            </a:r>
          </a:p>
          <a:p>
            <a:pPr>
              <a:spcAft>
                <a:spcPts val="400"/>
              </a:spcAft>
              <a:defRPr sz="1400" b="0">
                <a:solidFill>
                  <a:srgbClr val="1A2836"/>
                </a:solidFill>
                <a:latin typeface="Arial"/>
              </a:defRPr>
            </a:pPr>
            <a:r>
              <a:t>Live demo · https://ps2-sih-26250.vercel.app/     Source · https://github.com/GRammynotes/SIH26250</a:t>
            </a:r>
          </a:p>
          <a:p>
            <a:pPr>
              <a:spcAft>
                <a:spcPts val="900"/>
              </a:spcAft>
              <a:defRPr sz="1700" b="1">
                <a:solidFill>
                  <a:srgbClr val="224D80"/>
                </a:solidFill>
                <a:latin typeface="Arial"/>
              </a:defRPr>
            </a:pPr>
            <a:r>
              <a:t>Implementation evidence in this repository</a:t>
            </a:r>
          </a:p>
          <a:p>
            <a:pPr>
              <a:spcAft>
                <a:spcPts val="400"/>
              </a:spcAft>
              <a:defRPr sz="1400" b="0">
                <a:solidFill>
                  <a:srgbClr val="1A2836"/>
                </a:solidFill>
                <a:latin typeface="Arial"/>
              </a:defRPr>
            </a:pPr>
            <a:r>
              <a:t>src/lib/engine/optimisation.ts · src/lib/engine/weaponeering.ts · src/lib/engine/missionExecutor.ts · docs/research/IAF_TASKING_REALITY.md</a:t>
            </a:r>
          </a:p>
          <a:p>
            <a:pPr>
              <a:spcAft>
                <a:spcPts val="900"/>
              </a:spcAft>
              <a:defRPr sz="1700" b="1">
                <a:solidFill>
                  <a:srgbClr val="224D80"/>
                </a:solidFill>
                <a:latin typeface="Arial"/>
              </a:defRPr>
            </a:pPr>
            <a:r>
              <a:t>Framework references</a:t>
            </a:r>
          </a:p>
          <a:p>
            <a:pPr>
              <a:spcAft>
                <a:spcPts val="400"/>
              </a:spcAft>
              <a:defRPr sz="1400" b="0">
                <a:solidFill>
                  <a:srgbClr val="1A2836"/>
                </a:solidFill>
                <a:latin typeface="Arial"/>
              </a:defRPr>
            </a:pPr>
            <a:r>
              <a:t>Svelte · https://svelte.dev/docs     MapLibre · https://maplibre.org/maplibre-gl-js/docs/     Three.js · https://threejs.org/docs/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